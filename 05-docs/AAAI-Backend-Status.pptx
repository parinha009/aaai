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7955279" cy="301752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74066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./status --report --sprint=current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E2EAF4"/>
                </a:solidFill>
                <a:latin typeface="Consolas"/>
              </a:rPr>
              <a:t>AAAI Backend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BE584"/>
                </a:solidFill>
                <a:latin typeface="Consolas"/>
              </a:rPr>
              <a:t>Automated Asynchronous AI Interviewer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09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8A9AB0"/>
                </a:solidFill>
                <a:latin typeface="Consolas"/>
              </a:rPr>
              <a:t>// Lim Hokan · Backend Engineer · Batch 12 SE · Semester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AAAI · vertical-slice MVP</a:t>
            </a:r>
            <a:r>
              <a:rPr sz="1100">
                <a:solidFill>
                  <a:srgbClr val="8A9AB0"/>
                </a:solidFill>
                <a:latin typeface="Consolas"/>
              </a:rPr>
              <a:t>        backend status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backend status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3000" b="1" i="0">
                <a:solidFill>
                  <a:srgbClr val="E2EAF4"/>
                </a:solidFill>
                <a:latin typeface="Consolas"/>
              </a:rPr>
              <a:t>the_stack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9AB0"/>
                </a:solidFill>
                <a:latin typeface="Consolas"/>
              </a:rPr>
              <a:t>// "Messenger" layer — moves data &amp; enforces rules; AI reasoning is delegated to the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FastAPI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Async REST API · auto OpenAPI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2860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8716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SQLAlchemy 2.0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Typed ORM models · relational integrity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48716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Alembic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Versioned, repeatable DB 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6168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PostgreSQL 16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Runs in Docker · enforced foreign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1605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36168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Magic-link auth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Passwordless · signed session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605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361688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EAF4"/>
                </a:solidFill>
                <a:latin typeface="Consolas"/>
              </a:rPr>
              <a:t>Pydantic contracts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9AB0"/>
                </a:solidFill>
                <a:latin typeface="Consolas"/>
              </a:rPr>
              <a:t>Request/response shapes = the API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the_stack</a:t>
            </a:r>
            <a:r>
              <a:rPr sz="1100">
                <a:solidFill>
                  <a:srgbClr val="8A9AB0"/>
                </a:solidFill>
                <a:latin typeface="Consolas"/>
              </a:rPr>
              <a:t>        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3000" b="1" i="0">
                <a:solidFill>
                  <a:srgbClr val="E2EAF4"/>
                </a:solidFill>
                <a:latin typeface="Consolas"/>
              </a:rPr>
              <a:t>achievement_01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822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E584"/>
                </a:solidFill>
                <a:latin typeface="Consolas"/>
              </a:rPr>
              <a:t>[ DONE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9AB0"/>
                </a:solidFill>
                <a:latin typeface="Consolas"/>
              </a:rPr>
              <a:t>// the database foundation — schema, integrity, and a tamper-proof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7 tables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5 contract tables + 2 auth helpers, integer PKs, FKs enforced at the DB level.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Append-only AuditLogs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DB triggers reject every UPDATE / DELETE / TRUNCATE.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[FR-13]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Clean migrations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one Alembic migration rebuilds the schema from empty, every time.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[NFR-01]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data foundation</a:t>
            </a:r>
            <a:r>
              <a:rPr sz="1100">
                <a:solidFill>
                  <a:srgbClr val="8A9AB0"/>
                </a:solidFill>
                <a:latin typeface="Consolas"/>
              </a:rPr>
              <a:t>        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3000" b="1" i="0">
                <a:solidFill>
                  <a:srgbClr val="E2EAF4"/>
                </a:solidFill>
                <a:latin typeface="Consolas"/>
              </a:rPr>
              <a:t>achievement_02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822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E584"/>
                </a:solidFill>
                <a:latin typeface="Consolas"/>
              </a:rPr>
              <a:t>[ DONE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9AB0"/>
                </a:solidFill>
                <a:latin typeface="Consolas"/>
              </a:rPr>
              <a:t>// passwordless auth + the whole candidate flow, running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Magic-link login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single-use, 15-min expiry, role-scoped sessions.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[FR-04]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Consent gate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questions return 403 until consent is recorded.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[FR-01]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Base questions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one 5:00 global timer.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[FR-05]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Audio upload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20 MB cap + type allow-list, path-only in DB.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[FR-06]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Tab-out anti-cheat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written to the immutable audit trail.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[FR-12]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auth + candidate flow</a:t>
            </a:r>
            <a:r>
              <a:rPr sz="1100">
                <a:solidFill>
                  <a:srgbClr val="8A9AB0"/>
                </a:solidFill>
                <a:latin typeface="Consolas"/>
              </a:rPr>
              <a:t>        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3000" b="1" i="0">
                <a:solidFill>
                  <a:srgbClr val="E2EAF4"/>
                </a:solidFill>
                <a:latin typeface="Consolas"/>
              </a:rPr>
              <a:t>achievement_03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822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E584"/>
                </a:solidFill>
                <a:latin typeface="Consolas"/>
              </a:rPr>
              <a:t>[ DONE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9AB0"/>
                </a:solidFill>
                <a:latin typeface="Consolas"/>
              </a:rPr>
              <a:t>// aligned 1:1 with the team's frozen API Contract v1, then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/api/v1, integer ids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one {error:{code,message}} envelope.</a:t>
            </a:r>
            <a:r>
              <a:rPr sz="1300" b="0" i="0">
                <a:solidFill>
                  <a:srgbClr val="5BE584"/>
                </a:solidFill>
                <a:latin typeface="Consolas"/>
              </a:rPr>
              <a:t>  [NFR-07]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Exact fixture shapes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every endpoint matches what the frontend builds against.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 i="0">
                <a:solidFill>
                  <a:srgbClr val="5BE584"/>
                </a:solidFill>
                <a:latin typeface="Consolas"/>
              </a:rPr>
              <a:t>» </a:t>
            </a:r>
            <a:r>
              <a:rPr sz="1600" b="1" i="0">
                <a:solidFill>
                  <a:srgbClr val="E2EAF4"/>
                </a:solidFill>
                <a:latin typeface="Consolas"/>
              </a:rPr>
              <a:t>Verified — 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DB vs ER diagram, responses vs fixtures, live flowchart walk.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37744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606040"/>
            <a:ext cx="30175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5BE584"/>
                </a:solidFill>
                <a:latin typeface="Consolas"/>
              </a:rPr>
              <a:t>23/23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AB0"/>
                </a:solidFill>
                <a:latin typeface="Consolas"/>
              </a:rPr>
              <a:t>CHECKS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contract-aligned &amp; verified</a:t>
            </a:r>
            <a:r>
              <a:rPr sz="1100">
                <a:solidFill>
                  <a:srgbClr val="8A9AB0"/>
                </a:solidFill>
                <a:latin typeface="Consolas"/>
              </a:rPr>
              <a:t>        05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5BE584"/>
                </a:solidFill>
                <a:latin typeface="Consolas"/>
              </a:rPr>
              <a:t>&gt; </a:t>
            </a:r>
            <a:r>
              <a:rPr sz="3000" b="1" i="0">
                <a:solidFill>
                  <a:srgbClr val="E2EAF4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822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[ NEXT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9AB0"/>
                </a:solidFill>
                <a:latin typeface="Consolas"/>
              </a:rPr>
              <a:t>// the right half of the assembly line — AI pipeline, cost guard,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01 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Email delivery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Send real magic links (SMTP/provider), replacing the dev stub.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02  </a:t>
            </a:r>
            <a:r>
              <a:rPr sz="1100" b="0" i="0">
                <a:solidFill>
                  <a:srgbClr val="5BE584"/>
                </a:solidFill>
                <a:latin typeface="Consolas"/>
              </a:rPr>
              <a:t>[FR-07/08]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AI pipeline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Whisper transcription + GPT-4o-mini follow-up, with the AI engineer.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688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03  </a:t>
            </a:r>
            <a:r>
              <a:rPr sz="1100" b="0" i="0">
                <a:solidFill>
                  <a:srgbClr val="5BE584"/>
                </a:solidFill>
                <a:latin typeface="Consolas"/>
              </a:rPr>
              <a:t>[FR-03/10]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JSON scoring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Schema-validated 4-trait scorecard + robotic-language 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2452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04  </a:t>
            </a:r>
            <a:r>
              <a:rPr sz="1100" b="0" i="0">
                <a:solidFill>
                  <a:srgbClr val="5BE584"/>
                </a:solidFill>
                <a:latin typeface="Consolas"/>
              </a:rPr>
              <a:t>[FR-16]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Budget kill-switch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$10/mo middleware freezes AI calls at the ceiling.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22452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07408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05  </a:t>
            </a:r>
            <a:r>
              <a:rPr sz="1100" b="0" i="0">
                <a:solidFill>
                  <a:srgbClr val="5BE584"/>
                </a:solidFill>
                <a:latin typeface="Consolas"/>
              </a:rPr>
              <a:t>[FR-14/15]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Recruiter dashboard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Jobs, leaderboard, candidate detail, audio playback.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2452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01724"/>
          </a:solidFill>
          <a:ln w="9525">
            <a:solidFill>
              <a:srgbClr val="22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407408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6B6FF"/>
                </a:solidFill>
                <a:latin typeface="Consolas"/>
              </a:rPr>
              <a:t>06 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2EAF4"/>
                </a:solidFill>
                <a:latin typeface="Consolas"/>
              </a:rPr>
              <a:t>Tests &amp; deploy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AB0"/>
                </a:solidFill>
                <a:latin typeface="Consolas"/>
              </a:rPr>
              <a:t>Automated pytest suite, then deploy to Render/Railway.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roadmap — next</a:t>
            </a:r>
            <a:r>
              <a:rPr sz="1100">
                <a:solidFill>
                  <a:srgbClr val="8A9AB0"/>
                </a:solidFill>
                <a:latin typeface="Consolas"/>
              </a:rPr>
              <a:t>        06 /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02920" cy="82296"/>
          </a:xfrm>
          <a:prstGeom prst="rect">
            <a:avLst/>
          </a:prstGeom>
          <a:solidFill>
            <a:srgbClr val="5BE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5BE584"/>
                </a:solidFill>
                <a:latin typeface="Consolas"/>
              </a:rPr>
              <a:t>STATUS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E2EAF4"/>
                </a:solidFill>
                <a:latin typeface="Consolas"/>
              </a:rPr>
              <a:t>Left half of the assembly line: shipped.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BE584"/>
                </a:solidFill>
                <a:latin typeface="Consolas"/>
              </a:rPr>
              <a:t>Intake  -&gt;  consent  -&gt;  questions  -&gt;  upload  -&gt;  audit trail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8A9AB0"/>
                </a:solidFill>
                <a:latin typeface="Consolas"/>
              </a:rPr>
              <a:t>running, and verified against the contract.</a:t>
            </a:r>
          </a:p>
          <a:p>
            <a:pPr>
              <a:spcBef>
                <a:spcPts val="1600"/>
              </a:spcBef>
              <a:spcAft>
                <a:spcPts val="600"/>
              </a:spcAft>
            </a:pPr>
            <a:r>
              <a:rPr sz="1600" b="0" i="0">
                <a:solidFill>
                  <a:srgbClr val="8A9AB0"/>
                </a:solidFill>
                <a:latin typeface="Consolas"/>
              </a:rPr>
              <a:t>Next milestone: </a:t>
            </a:r>
            <a:r>
              <a:rPr sz="1600" b="1" i="0">
                <a:solidFill>
                  <a:srgbClr val="FFB454"/>
                </a:solidFill>
                <a:latin typeface="Consolas"/>
              </a:rPr>
              <a:t>the AI pipeline</a:t>
            </a:r>
            <a:r>
              <a:rPr sz="1600" b="0" i="0">
                <a:solidFill>
                  <a:srgbClr val="8A9AB0"/>
                </a:solidFill>
                <a:latin typeface="Consolas"/>
              </a:rPr>
              <a:t> — Whisper transcription and GPT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Lim Hokan · Backend</a:t>
            </a:r>
            <a:r>
              <a:rPr sz="1100">
                <a:solidFill>
                  <a:srgbClr val="8A9AB0"/>
                </a:solidFill>
                <a:latin typeface="Consolas"/>
              </a:rPr>
              <a:t>        AAAI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AB0"/>
                </a:solidFill>
                <a:latin typeface="Consolas"/>
              </a:rPr>
              <a:t>AAAI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