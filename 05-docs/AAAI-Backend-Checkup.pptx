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331720"/>
            <a:ext cx="1280160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6032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5000" b="1">
                <a:solidFill>
                  <a:srgbClr val="FFFFFF"/>
                </a:solidFill>
                <a:latin typeface="Segoe UI"/>
              </a:rPr>
              <a:t>AAAI Backend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B6E3C0"/>
                </a:solidFill>
                <a:latin typeface="Segoe UI"/>
              </a:rPr>
              <a:t>Automated Asynchronous AI Interviewer</a:t>
            </a:r>
          </a:p>
          <a:p>
            <a:pPr>
              <a:spcBef>
                <a:spcPts val="1000"/>
              </a:spcBef>
              <a:spcAft>
                <a:spcPts val="800"/>
              </a:spcAft>
            </a:pPr>
            <a:r>
              <a:rPr sz="1400" b="0">
                <a:solidFill>
                  <a:srgbClr val="9FB0C2"/>
                </a:solidFill>
                <a:latin typeface="Segoe UI"/>
              </a:rPr>
              <a:t>Backend  ·  Lim Hokan  ·  Project check-up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56692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4202B"/>
                </a:solidFill>
                <a:latin typeface="Segoe UI"/>
              </a:rPr>
              <a:t>What the project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0">
                <a:solidFill>
                  <a:srgbClr val="14202B"/>
                </a:solidFill>
                <a:latin typeface="Segoe UI"/>
              </a:rPr>
              <a:t>A web app for asynchronous AI voice interviews — no live human, no video call.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0">
                <a:solidFill>
                  <a:srgbClr val="14202B"/>
                </a:solidFill>
                <a:latin typeface="Segoe UI"/>
              </a:rPr>
              <a:t>A candidate answers questions by voice; AI transcribes and scores them; a recruiter reviews ranked results.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1">
                <a:solidFill>
                  <a:srgbClr val="14202B"/>
                </a:solidFill>
                <a:latin typeface="Segoe UI"/>
              </a:rPr>
              <a:t>The flow:  </a:t>
            </a:r>
            <a:r>
              <a:rPr sz="1800" b="0">
                <a:solidFill>
                  <a:srgbClr val="5B6B7C"/>
                </a:solidFill>
                <a:latin typeface="Segoe UI"/>
              </a:rPr>
              <a:t>Candidate  →  Backend (rules + storage)  →  OpenAI (AI)  →  Recruiter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B6B7C"/>
                </a:solidFill>
                <a:latin typeface="Segoe U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56692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4202B"/>
                </a:solidFill>
                <a:latin typeface="Segoe UI"/>
              </a:rPr>
              <a:t>My part — the backend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0">
                <a:solidFill>
                  <a:srgbClr val="14202B"/>
                </a:solidFill>
                <a:latin typeface="Segoe UI"/>
              </a:rPr>
              <a:t>The backend runs the interview, enforces every rule, and stores all the data.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0">
                <a:solidFill>
                  <a:srgbClr val="14202B"/>
                </a:solidFill>
                <a:latin typeface="Segoe UI"/>
              </a:rPr>
              <a:t>The AI thinking (transcription + scoring) is delegated to OpenAI.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1">
                <a:solidFill>
                  <a:srgbClr val="14202B"/>
                </a:solidFill>
                <a:latin typeface="Segoe UI"/>
              </a:rPr>
              <a:t>"Messenger vs Brain":  </a:t>
            </a:r>
            <a:r>
              <a:rPr sz="1800" b="0">
                <a:solidFill>
                  <a:srgbClr val="5B6B7C"/>
                </a:solidFill>
                <a:latin typeface="Segoe UI"/>
              </a:rPr>
              <a:t>my backend is the messenger; OpenAI is the brain.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B6B7C"/>
                </a:solidFill>
                <a:latin typeface="Segoe U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56692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4202B"/>
                </a:solidFill>
                <a:latin typeface="Segoe UI"/>
              </a:rPr>
              <a:t>Backend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Passwordless login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sign in via an emailed magic link; single-use, expires in 15 min.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Consent gate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no questions shown until the candidate consents (enforced on the server).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Interview flow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serves questions with a timer; accepts audio uploads (20 MB limit, type-checked).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Anti-cheat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tab-switches are logged to a tamper-proof audit trail.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Recruiter dashboard API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ranked leaderboard, transcripts, scores, and audio playback.</a:t>
            </a:r>
          </a:p>
          <a:p>
            <a:pPr>
              <a:spcBef>
                <a:spcPts val="0"/>
              </a:spcBef>
              <a:spcAft>
                <a:spcPts val="1100"/>
              </a:spcAft>
            </a:pPr>
            <a:r>
              <a:rPr sz="16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600" b="1">
                <a:solidFill>
                  <a:srgbClr val="14202B"/>
                </a:solidFill>
                <a:latin typeface="Segoe UI"/>
              </a:rPr>
              <a:t>Role-based access + tests — </a:t>
            </a:r>
            <a:r>
              <a:rPr sz="1600" b="0">
                <a:solidFill>
                  <a:srgbClr val="5B6B7C"/>
                </a:solidFill>
                <a:latin typeface="Segoe UI"/>
              </a:rPr>
              <a:t>candidates vs recruiters are separated; 19 automated tests.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B6B7C"/>
                </a:solidFill>
                <a:latin typeface="Segoe U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56692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4202B"/>
                </a:solidFill>
                <a:latin typeface="Segoe UI"/>
              </a:rPr>
              <a:t>How I approached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6070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1">
                <a:solidFill>
                  <a:srgbClr val="14202B"/>
                </a:solidFill>
                <a:latin typeface="Segoe UI"/>
              </a:rPr>
              <a:t>Contract-first — </a:t>
            </a:r>
            <a:r>
              <a:rPr sz="1800" b="0">
                <a:solidFill>
                  <a:srgbClr val="5B6B7C"/>
                </a:solidFill>
                <a:latin typeface="Segoe UI"/>
              </a:rPr>
              <a:t>the team froze one API contract, so frontend and backend built in parallel and plug together.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1">
                <a:solidFill>
                  <a:srgbClr val="14202B"/>
                </a:solidFill>
                <a:latin typeface="Segoe UI"/>
              </a:rPr>
              <a:t>Rules on the server, not the page — </a:t>
            </a:r>
            <a:r>
              <a:rPr sz="1800" b="0">
                <a:solidFill>
                  <a:srgbClr val="5B6B7C"/>
                </a:solidFill>
                <a:latin typeface="Segoe UI"/>
              </a:rPr>
              <a:t>consent, file limits, and roles can't be bypassed from the frontend.</a:t>
            </a:r>
          </a:p>
          <a:p>
            <a:pPr>
              <a:spcBef>
                <a:spcPts val="0"/>
              </a:spcBef>
              <a:spcAft>
                <a:spcPts val="1600"/>
              </a:spcAft>
            </a:pPr>
            <a:r>
              <a:rPr sz="1800" b="1">
                <a:solidFill>
                  <a:srgbClr val="2E7D32"/>
                </a:solidFill>
                <a:latin typeface="Segoe UI"/>
              </a:rPr>
              <a:t>•  </a:t>
            </a:r>
            <a:r>
              <a:rPr sz="1800" b="1">
                <a:solidFill>
                  <a:srgbClr val="14202B"/>
                </a:solidFill>
                <a:latin typeface="Segoe UI"/>
              </a:rPr>
              <a:t>Safety by design — </a:t>
            </a:r>
            <a:r>
              <a:rPr sz="1800" b="0">
                <a:solidFill>
                  <a:srgbClr val="5B6B7C"/>
                </a:solidFill>
                <a:latin typeface="Segoe UI"/>
              </a:rPr>
              <a:t>the audit log can't be edited (a database trigger blocks it); tokens are single-use.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B6B7C"/>
                </a:solidFill>
                <a:latin typeface="Segoe U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34440" y="566928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14202B"/>
                </a:solidFill>
                <a:latin typeface="Segoe UI"/>
              </a:rPr>
              <a:t>Tech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377440"/>
            <a:ext cx="2606040" cy="155448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202B"/>
                </a:solidFill>
                <a:latin typeface="Segoe UI"/>
              </a:rPr>
              <a:t>FastAPI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REST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03320" y="2377440"/>
            <a:ext cx="2606040" cy="155448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202B"/>
                </a:solidFill>
                <a:latin typeface="Segoe UI"/>
              </a:rPr>
              <a:t>PostgreSQL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database (in Docker)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0" y="2377440"/>
            <a:ext cx="2606040" cy="155448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202B"/>
                </a:solidFill>
                <a:latin typeface="Segoe UI"/>
              </a:rPr>
              <a:t>SQLAlchemy + Alembic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models &amp; migrations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64040" y="2377440"/>
            <a:ext cx="2606040" cy="1554480"/>
          </a:xfrm>
          <a:prstGeom prst="roundRect">
            <a:avLst/>
          </a:prstGeom>
          <a:solidFill>
            <a:srgbClr val="EDF2F7"/>
          </a:solidFill>
          <a:ln w="9525">
            <a:solidFill>
              <a:srgbClr val="C7D2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46919" y="2606040"/>
            <a:ext cx="22860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4202B"/>
                </a:solidFill>
                <a:latin typeface="Segoe UI"/>
              </a:rPr>
              <a:t>Pydantic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50" b="0">
                <a:solidFill>
                  <a:srgbClr val="5B6B7C"/>
                </a:solidFill>
                <a:latin typeface="Segoe UI"/>
              </a:rPr>
              <a:t>request/response validation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400800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5B6B7C"/>
                </a:solidFill>
                <a:latin typeface="Segoe U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0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86000"/>
            <a:ext cx="1280160" cy="109728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514600"/>
            <a:ext cx="1051560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3000" b="1">
                <a:solidFill>
                  <a:srgbClr val="FFFFFF"/>
                </a:solidFill>
                <a:latin typeface="Segoe UI"/>
              </a:rPr>
              <a:t>Backend engine: built, tested, contract-aligned.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B6E3C0"/>
                </a:solidFill>
                <a:latin typeface="Segoe UI"/>
              </a:rPr>
              <a:t>Candidate intake → consent → questions → upload → recruiter dashboard.</a:t>
            </a:r>
          </a:p>
          <a:p>
            <a:pPr>
              <a:spcBef>
                <a:spcPts val="1200"/>
              </a:spcBef>
              <a:spcAft>
                <a:spcPts val="800"/>
              </a:spcAft>
            </a:pPr>
            <a:r>
              <a:rPr sz="1400" b="0">
                <a:solidFill>
                  <a:srgbClr val="9FB0C2"/>
                </a:solidFill>
                <a:latin typeface="Segoe UI"/>
              </a:rPr>
              <a:t>Next: the AI pipeline (Whisper + GPT scoring) and cloud deployment.</a:t>
            </a:r>
          </a:p>
          <a:p>
            <a:pPr>
              <a:spcBef>
                <a:spcPts val="1600"/>
              </a:spcBef>
              <a:spcAft>
                <a:spcPts val="8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Thank 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